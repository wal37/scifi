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1.jpg"/><Relationship Id="rId6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36576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A8E"/>
                </a:solidFill>
                <a:latin typeface="Arial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6"/>
          </a:solidFill>
          <a:ln>
            <a:solidFill>
              <a:srgbClr val="0D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4754880" cy="58521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DBFF"/>
                </a:solidFill>
                <a:latin typeface="Arial"/>
              </a:rPr>
              <a:t>BROWSER-NATIVE 3D INFRASTRUCTURE</a:t>
            </a:r>
          </a:p>
        </p:txBody>
      </p:sp>
      <p:pic>
        <p:nvPicPr>
          <p:cNvPr id="6" name="Picture 5" descr="lconfi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0"/>
            <a:ext cx="6705295" cy="6858000"/>
          </a:xfrm>
          <a:prstGeom prst="rect">
            <a:avLst/>
          </a:prstGeom>
        </p:spPr>
      </p:pic>
      <p:pic>
        <p:nvPicPr>
          <p:cNvPr id="7" name="Picture 6" descr="loopnod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868680"/>
            <a:ext cx="1097280" cy="1097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1828800"/>
            <a:ext cx="384048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7111E"/>
                </a:solidFill>
                <a:latin typeface="Arial"/>
              </a:rPr>
              <a:t>Loopnode builds a premium operating layer for realtime 3D on the web.</a:t>
            </a:r>
            <a:endParaRPr sz="25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374903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A7C90"/>
                </a:solidFill>
                <a:latin typeface="Arial"/>
              </a:rPr>
              <a:t>A browser-native platform for scene creation, runtime delivery, collaborative review, and high-fidelity launch surfaces across games, XR, commerce, and interactive product experiences.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257800"/>
            <a:ext cx="3063240" cy="566928"/>
          </a:xfrm>
          <a:prstGeom prst="roundRect">
            <a:avLst/>
          </a:prstGeom>
          <a:solidFill>
            <a:srgbClr val="2C6BFF"/>
          </a:solidFill>
          <a:ln>
            <a:solidFill>
              <a:srgbClr val="2C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5422392"/>
            <a:ext cx="2560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Premium web-native 3D stack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36576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A8E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C6BFF"/>
                </a:solidFill>
                <a:latin typeface="Arial"/>
              </a:rPr>
              <a:t>01  PRODUCT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14400"/>
            <a:ext cx="731520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7111E"/>
                </a:solidFill>
                <a:latin typeface="Arial"/>
              </a:rPr>
              <a:t>Most teams still piece together modern 3D delivery from disconnected tools.</a:t>
            </a:r>
            <a:endParaRPr sz="28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808" y="2423160"/>
            <a:ext cx="5303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A7C90"/>
                </a:solidFill>
                <a:latin typeface="Arial"/>
              </a:rPr>
              <a:t>Scene editors, runtime code, review links, asset pipelines, deployment workflows, and analytics are usually managed as separate systems. Loopnode compresses that sprawl into one cleaner product surface.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731520"/>
            <a:ext cx="3383280" cy="5394960"/>
          </a:xfrm>
          <a:prstGeom prst="roundRect">
            <a:avLst/>
          </a:prstGeom>
          <a:solidFill>
            <a:srgbClr val="F4F7FB"/>
          </a:solidFill>
          <a:ln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0" y="1280160"/>
            <a:ext cx="548640" cy="438912"/>
          </a:xfrm>
          <a:prstGeom prst="roundRect">
            <a:avLst/>
          </a:prstGeom>
          <a:solidFill>
            <a:srgbClr val="2C6BFF"/>
          </a:solidFill>
          <a:ln>
            <a:solidFill>
              <a:srgbClr val="2C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13648" y="1389888"/>
            <a:ext cx="1645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261872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7111E"/>
                </a:solidFill>
                <a:latin typeface="Arial"/>
              </a:rPr>
              <a:t>One browser workspace instead of fragmented tooling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606039"/>
            <a:ext cx="548640" cy="438912"/>
          </a:xfrm>
          <a:prstGeom prst="roundRect">
            <a:avLst/>
          </a:prstGeom>
          <a:solidFill>
            <a:srgbClr val="2C6BFF"/>
          </a:solidFill>
          <a:ln>
            <a:solidFill>
              <a:srgbClr val="2C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13648" y="2715768"/>
            <a:ext cx="1645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587751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7111E"/>
                </a:solidFill>
                <a:latin typeface="Arial"/>
              </a:rPr>
              <a:t>Faster iteration from scene edits to published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931920"/>
            <a:ext cx="548640" cy="438912"/>
          </a:xfrm>
          <a:prstGeom prst="roundRect">
            <a:avLst/>
          </a:prstGeom>
          <a:solidFill>
            <a:srgbClr val="2C6BFF"/>
          </a:solidFill>
          <a:ln>
            <a:solidFill>
              <a:srgbClr val="2C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13648" y="4041648"/>
            <a:ext cx="1645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913632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7111E"/>
                </a:solidFill>
                <a:latin typeface="Arial"/>
              </a:rPr>
              <a:t>A better fit for product teams than engine-first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36576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A8E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C6BFF"/>
                </a:solidFill>
                <a:latin typeface="Arial"/>
              </a:rPr>
              <a:t>02  MARKET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68680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7111E"/>
                </a:solidFill>
                <a:latin typeface="Arial"/>
              </a:rPr>
              <a:t>Why the category matters now</a:t>
            </a:r>
            <a:endParaRPr sz="24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808" y="169164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A7C90"/>
                </a:solidFill>
                <a:latin typeface="Arial"/>
              </a:rPr>
              <a:t>Interactive 3D is moving beyond game studios into product, commerce, simulation, and immersive web experiences.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743200"/>
            <a:ext cx="35661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8407" y="2999232"/>
            <a:ext cx="566928" cy="91440"/>
          </a:xfrm>
          <a:prstGeom prst="rect">
            <a:avLst/>
          </a:prstGeom>
          <a:solidFill>
            <a:srgbClr val="6EDBFF"/>
          </a:solidFill>
          <a:ln>
            <a:solidFill>
              <a:srgbClr val="6E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324612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7111E"/>
                </a:solidFill>
                <a:latin typeface="Arial"/>
              </a:rPr>
              <a:t>Browser expectations are rising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7" y="3977639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A7C90"/>
                </a:solidFill>
                <a:latin typeface="Arial"/>
              </a:rPr>
              <a:t>Premium launches now need richer visual surfaces, motion, and spatial interaction directly on the web.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4568" y="2743200"/>
            <a:ext cx="35661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73168" y="2999232"/>
            <a:ext cx="566928" cy="91440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324612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7111E"/>
                </a:solidFill>
                <a:latin typeface="Arial"/>
              </a:rPr>
              <a:t>WebGPU expands the ceiling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3977639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A7C90"/>
                </a:solidFill>
                <a:latin typeface="Arial"/>
              </a:rPr>
              <a:t>Modern browser graphics make higher-fidelity realtime rendering practical for a wider product 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9328" y="2743200"/>
            <a:ext cx="35661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67928" y="2999232"/>
            <a:ext cx="566928" cy="91440"/>
          </a:xfrm>
          <a:prstGeom prst="rect">
            <a:avLst/>
          </a:prstGeom>
          <a:solidFill>
            <a:srgbClr val="A58EFF"/>
          </a:solidFill>
          <a:ln>
            <a:solidFill>
              <a:srgbClr val="A5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324612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7111E"/>
                </a:solidFill>
                <a:latin typeface="Arial"/>
              </a:rPr>
              <a:t>Teams need productized 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3977639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A7C90"/>
                </a:solidFill>
                <a:latin typeface="Arial"/>
              </a:rPr>
              <a:t>Creative, engineering, and go-to-market teams need a system that feels deployable, not improvised.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36576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A8E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C6BFF"/>
                </a:solidFill>
                <a:latin typeface="Arial"/>
              </a:rPr>
              <a:t>03  WORKFLOW</a:t>
            </a:r>
          </a:p>
        </p:txBody>
      </p:sp>
      <p:pic>
        <p:nvPicPr>
          <p:cNvPr id="4" name="Picture 3" descr="lgam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960120"/>
            <a:ext cx="4983480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051560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7111E"/>
                </a:solidFill>
                <a:latin typeface="Arial"/>
              </a:rPr>
              <a:t>Loopnode keeps composition, review, and launch inside one operating flow.</a:t>
            </a:r>
            <a:endParaRPr sz="24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2057400"/>
            <a:ext cx="45262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A7C90"/>
                </a:solidFill>
                <a:latin typeface="Arial"/>
              </a:rPr>
              <a:t>The platform is built for teams that want design and technical control without losing speed. Scene building, logic, previewing, and deployment stay connected.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319272"/>
            <a:ext cx="164592" cy="164592"/>
          </a:xfrm>
          <a:prstGeom prst="rect">
            <a:avLst/>
          </a:prstGeom>
          <a:solidFill>
            <a:srgbClr val="2C6BFF"/>
          </a:solidFill>
          <a:ln>
            <a:solidFill>
              <a:srgbClr val="2C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3246120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111E"/>
                </a:solidFill>
                <a:latin typeface="Arial"/>
              </a:rPr>
              <a:t>Browser scene editing with premium output paths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4005072"/>
            <a:ext cx="164592" cy="164592"/>
          </a:xfrm>
          <a:prstGeom prst="rect">
            <a:avLst/>
          </a:prstGeom>
          <a:solidFill>
            <a:srgbClr val="2C6BFF"/>
          </a:solidFill>
          <a:ln>
            <a:solidFill>
              <a:srgbClr val="2C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3931920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111E"/>
                </a:solidFill>
                <a:latin typeface="Arial"/>
              </a:rPr>
              <a:t>Realtime previews for faster stakeholder 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4690872"/>
            <a:ext cx="164592" cy="164592"/>
          </a:xfrm>
          <a:prstGeom prst="rect">
            <a:avLst/>
          </a:prstGeom>
          <a:solidFill>
            <a:srgbClr val="2C6BFF"/>
          </a:solidFill>
          <a:ln>
            <a:solidFill>
              <a:srgbClr val="2C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4617720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111E"/>
                </a:solidFill>
                <a:latin typeface="Arial"/>
              </a:rPr>
              <a:t>A more coherent handoff between creation and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36576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EA7C4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DBFF"/>
                </a:solidFill>
                <a:latin typeface="Arial"/>
              </a:rPr>
              <a:t>04 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 six-layer product stack</a:t>
            </a:r>
            <a:endParaRPr sz="2400" b="1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3232" y="1783080"/>
            <a:ext cx="5257800" cy="1170432"/>
          </a:xfrm>
          <a:prstGeom prst="roundRect">
            <a:avLst/>
          </a:prstGeom>
          <a:solidFill>
            <a:srgbClr val="10233B"/>
          </a:solidFill>
          <a:ln>
            <a:solidFill>
              <a:srgbClr val="1E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96596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FF68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9202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Editor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2286000"/>
            <a:ext cx="4160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C6D5E4"/>
                </a:solidFill>
                <a:latin typeface="Arial"/>
              </a:rPr>
              <a:t>Scene composition, hierarchy control, materials, and environment setup in the browser.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64408"/>
            <a:ext cx="5257800" cy="1170432"/>
          </a:xfrm>
          <a:prstGeom prst="roundRect">
            <a:avLst/>
          </a:prstGeom>
          <a:solidFill>
            <a:srgbClr val="162941"/>
          </a:solidFill>
          <a:ln>
            <a:solidFill>
              <a:srgbClr val="1E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44728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FF68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3401568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Realtime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3767328"/>
            <a:ext cx="4160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C6D5E4"/>
                </a:solidFill>
                <a:latin typeface="Arial"/>
              </a:rPr>
              <a:t>WebGPU and WebGL delivery, rendering control, interaction logic, and optimized runtime performance.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745736"/>
            <a:ext cx="5257800" cy="1170432"/>
          </a:xfrm>
          <a:prstGeom prst="roundRect">
            <a:avLst/>
          </a:prstGeom>
          <a:solidFill>
            <a:srgbClr val="1A314D"/>
          </a:solidFill>
          <a:ln>
            <a:solidFill>
              <a:srgbClr val="1E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928616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FF68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4882896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Asset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5248656"/>
            <a:ext cx="4160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C6D5E4"/>
                </a:solidFill>
                <a:latin typeface="Arial"/>
              </a:rPr>
              <a:t>Models, textures, media, scripts, and structured reuse across product teams.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783080"/>
            <a:ext cx="5257800" cy="1170432"/>
          </a:xfrm>
          <a:prstGeom prst="roundRect">
            <a:avLst/>
          </a:prstGeom>
          <a:solidFill>
            <a:srgbClr val="1F3657"/>
          </a:solidFill>
          <a:ln>
            <a:solidFill>
              <a:srgbClr val="1E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96596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FF68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9202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Team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286000"/>
            <a:ext cx="4160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C6D5E4"/>
                </a:solidFill>
                <a:latin typeface="Arial"/>
              </a:rPr>
              <a:t>Approvals, comments, review checkpoints, and shared production governance.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264408"/>
            <a:ext cx="5257800" cy="1170432"/>
          </a:xfrm>
          <a:prstGeom prst="roundRect">
            <a:avLst/>
          </a:prstGeom>
          <a:solidFill>
            <a:srgbClr val="27426A"/>
          </a:solidFill>
          <a:ln>
            <a:solidFill>
              <a:srgbClr val="1E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44728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FF68"/>
                </a:solidFill>
                <a:latin typeface="Arial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401568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Launch fabric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767328"/>
            <a:ext cx="4160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C6D5E4"/>
                </a:solidFill>
                <a:latin typeface="Arial"/>
              </a:rPr>
              <a:t>Deployment to landing pages, product showcases, immersive demos, and XR endpoints.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745736"/>
            <a:ext cx="5257800" cy="1170432"/>
          </a:xfrm>
          <a:prstGeom prst="roundRect">
            <a:avLst/>
          </a:prstGeom>
          <a:solidFill>
            <a:srgbClr val="2E4C78"/>
          </a:solidFill>
          <a:ln>
            <a:solidFill>
              <a:srgbClr val="1E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928616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8FF68"/>
                </a:solidFill>
                <a:latin typeface="Arial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882896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Data connectors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248656"/>
            <a:ext cx="4160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C6D5E4"/>
                </a:solidFill>
                <a:latin typeface="Arial"/>
              </a:rPr>
              <a:t>Commerce, CMS, analytics, telemetry, and external system integration.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36576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A8E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C6BFF"/>
                </a:solidFill>
                <a:latin typeface="Arial"/>
              </a:rPr>
              <a:t>05 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7111E"/>
                </a:solidFill>
                <a:latin typeface="Arial"/>
              </a:rPr>
              <a:t>The platform is designed for multiple commercial surfaces, not one narrow use case.</a:t>
            </a:r>
            <a:endParaRPr sz="2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808" y="1664208"/>
            <a:ext cx="6126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A7C90"/>
                </a:solidFill>
                <a:latin typeface="Arial"/>
              </a:rPr>
              <a:t>Loopnode can support browser games, XR experiences, product configurators, interactive campaigns, and other premium spatial interfaces.</a:t>
            </a:r>
          </a:p>
        </p:txBody>
      </p:sp>
      <p:pic>
        <p:nvPicPr>
          <p:cNvPr id="6" name="Picture 5" descr="lgam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514600"/>
            <a:ext cx="3749039" cy="3611880"/>
          </a:xfrm>
          <a:prstGeom prst="rect">
            <a:avLst/>
          </a:prstGeom>
        </p:spPr>
      </p:pic>
      <p:pic>
        <p:nvPicPr>
          <p:cNvPr id="7" name="Picture 6" descr="l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514600"/>
            <a:ext cx="2057400" cy="1691640"/>
          </a:xfrm>
          <a:prstGeom prst="rect">
            <a:avLst/>
          </a:prstGeom>
        </p:spPr>
      </p:pic>
      <p:pic>
        <p:nvPicPr>
          <p:cNvPr id="8" name="Picture 7" descr="lv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514600"/>
            <a:ext cx="2057400" cy="1691640"/>
          </a:xfrm>
          <a:prstGeom prst="rect">
            <a:avLst/>
          </a:prstGeom>
        </p:spPr>
      </p:pic>
      <p:pic>
        <p:nvPicPr>
          <p:cNvPr id="9" name="Picture 8" descr="lconfi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434840"/>
            <a:ext cx="2057400" cy="1691640"/>
          </a:xfrm>
          <a:prstGeom prst="rect">
            <a:avLst/>
          </a:prstGeom>
        </p:spPr>
      </p:pic>
      <p:pic>
        <p:nvPicPr>
          <p:cNvPr id="10" name="Picture 9" descr="la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4434840"/>
            <a:ext cx="3886200" cy="16916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89720" y="2514600"/>
            <a:ext cx="23774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64040" y="28803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7111E"/>
                </a:solidFill>
                <a:latin typeface="Arial"/>
              </a:rPr>
              <a:t>Surface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3383280"/>
            <a:ext cx="1783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6BFF"/>
                </a:solidFill>
                <a:latin typeface="Arial"/>
              </a:rPr>
              <a:t>Games
AR
VR
Configurations
Interactive 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36576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A8E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C6BFF"/>
                </a:solidFill>
                <a:latin typeface="Arial"/>
              </a:rPr>
              <a:t>06  FEATURE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7498079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7111E"/>
                </a:solidFill>
                <a:latin typeface="Arial"/>
              </a:rPr>
              <a:t>The product combines creative speed with a more modern technical base.</a:t>
            </a:r>
            <a:endParaRPr sz="2400" b="1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49808" y="2011680"/>
            <a:ext cx="2697480" cy="3246120"/>
          </a:xfrm>
          <a:prstGeom prst="roundRect">
            <a:avLst/>
          </a:prstGeom>
          <a:solidFill>
            <a:srgbClr val="0D1726"/>
          </a:solidFill>
          <a:ln>
            <a:solidFill>
              <a:srgbClr val="1E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267712"/>
            <a:ext cx="658368" cy="658368"/>
          </a:xfrm>
          <a:prstGeom prst="roundRect">
            <a:avLst/>
          </a:prstGeom>
          <a:solidFill>
            <a:srgbClr val="6EDBFF"/>
          </a:solidFill>
          <a:ln>
            <a:solidFill>
              <a:srgbClr val="6E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154680"/>
            <a:ext cx="21031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WebGPU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94760"/>
            <a:ext cx="2148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6D5E4"/>
                </a:solidFill>
                <a:latin typeface="Arial"/>
              </a:rPr>
              <a:t>A modern graphics path while maintaining practical browser coverage.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2736" y="2011680"/>
            <a:ext cx="2697480" cy="3246120"/>
          </a:xfrm>
          <a:prstGeom prst="roundRect">
            <a:avLst/>
          </a:prstGeom>
          <a:solidFill>
            <a:srgbClr val="0D1726"/>
          </a:solidFill>
          <a:ln>
            <a:solidFill>
              <a:srgbClr val="1E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58768" y="2267712"/>
            <a:ext cx="658368" cy="658368"/>
          </a:xfrm>
          <a:prstGeom prst="round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8768" y="3154680"/>
            <a:ext cx="21031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Zero compile loops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3794760"/>
            <a:ext cx="2148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6D5E4"/>
                </a:solidFill>
                <a:latin typeface="Arial"/>
              </a:rPr>
              <a:t>Faster iteration with a JavaScript-native workflow.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55664" y="2011680"/>
            <a:ext cx="2697480" cy="3246120"/>
          </a:xfrm>
          <a:prstGeom prst="roundRect">
            <a:avLst/>
          </a:prstGeom>
          <a:solidFill>
            <a:srgbClr val="0D1726"/>
          </a:solidFill>
          <a:ln>
            <a:solidFill>
              <a:srgbClr val="1E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11696" y="2267712"/>
            <a:ext cx="658368" cy="658368"/>
          </a:xfrm>
          <a:prstGeom prst="roundRect">
            <a:avLst/>
          </a:prstGeom>
          <a:solidFill>
            <a:srgbClr val="B8FF68"/>
          </a:solidFill>
          <a:ln>
            <a:solidFill>
              <a:srgbClr val="B8F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11696" y="3154680"/>
            <a:ext cx="21031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AI-assisted creation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1696" y="3794760"/>
            <a:ext cx="2148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6D5E4"/>
                </a:solidFill>
                <a:latin typeface="Arial"/>
              </a:rPr>
              <a:t>Vibe coding, editor automation, and natural-language acceleration.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08592" y="2011680"/>
            <a:ext cx="2697480" cy="3246120"/>
          </a:xfrm>
          <a:prstGeom prst="roundRect">
            <a:avLst/>
          </a:prstGeom>
          <a:solidFill>
            <a:srgbClr val="0D1726"/>
          </a:solidFill>
          <a:ln>
            <a:solidFill>
              <a:srgbClr val="1E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64624" y="2267712"/>
            <a:ext cx="658368" cy="658368"/>
          </a:xfrm>
          <a:prstGeom prst="roundRect">
            <a:avLst/>
          </a:prstGeom>
          <a:solidFill>
            <a:srgbClr val="A58EFF"/>
          </a:solidFill>
          <a:ln>
            <a:solidFill>
              <a:srgbClr val="A5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64624" y="3154680"/>
            <a:ext cx="21031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Collaboration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64624" y="3794760"/>
            <a:ext cx="2148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6D5E4"/>
                </a:solidFill>
                <a:latin typeface="Arial"/>
              </a:rPr>
              <a:t>Realtime teamwork without turning review into a separate product.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36576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A8E"/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C6BFF"/>
                </a:solidFill>
                <a:latin typeface="Arial"/>
              </a:rPr>
              <a:t>07  BUYERS</a:t>
            </a:r>
          </a:p>
        </p:txBody>
      </p:sp>
      <p:pic>
        <p:nvPicPr>
          <p:cNvPr id="4" name="Picture 3" descr="l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60120"/>
            <a:ext cx="4663440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1051560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7111E"/>
                </a:solidFill>
                <a:latin typeface="Arial"/>
              </a:rPr>
              <a:t>Initial demand comes from teams building visually ambitious digital products.</a:t>
            </a:r>
            <a:endParaRPr sz="24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0" y="2057400"/>
            <a:ext cx="45262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A7C90"/>
                </a:solidFill>
                <a:latin typeface="Arial"/>
              </a:rPr>
              <a:t>The strongest wedge is not only gaming. Loopnode can be sold into studios, product teams, immersive commerce groups, simulation builders, and agencies shipping high-fidelity interactive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3319272"/>
            <a:ext cx="164592" cy="164592"/>
          </a:xfrm>
          <a:prstGeom prst="rect">
            <a:avLst/>
          </a:prstGeom>
          <a:solidFill>
            <a:srgbClr val="2C6BFF"/>
          </a:solidFill>
          <a:ln>
            <a:solidFill>
              <a:srgbClr val="2C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3246120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111E"/>
                </a:solidFill>
                <a:latin typeface="Arial"/>
              </a:rPr>
              <a:t>Game and interactive studios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4005072"/>
            <a:ext cx="164592" cy="164592"/>
          </a:xfrm>
          <a:prstGeom prst="rect">
            <a:avLst/>
          </a:prstGeom>
          <a:solidFill>
            <a:srgbClr val="2C6BFF"/>
          </a:solidFill>
          <a:ln>
            <a:solidFill>
              <a:srgbClr val="2C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3931920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111E"/>
                </a:solidFill>
                <a:latin typeface="Arial"/>
              </a:rPr>
              <a:t>Commerce and configuration teams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4690872"/>
            <a:ext cx="164592" cy="164592"/>
          </a:xfrm>
          <a:prstGeom prst="rect">
            <a:avLst/>
          </a:prstGeom>
          <a:solidFill>
            <a:srgbClr val="2C6BFF"/>
          </a:solidFill>
          <a:ln>
            <a:solidFill>
              <a:srgbClr val="2C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4617720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111E"/>
                </a:solidFill>
                <a:latin typeface="Arial"/>
              </a:rPr>
              <a:t>XR and simulation product groups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5376672"/>
            <a:ext cx="164592" cy="164592"/>
          </a:xfrm>
          <a:prstGeom prst="rect">
            <a:avLst/>
          </a:prstGeom>
          <a:solidFill>
            <a:srgbClr val="2C6BFF"/>
          </a:solidFill>
          <a:ln>
            <a:solidFill>
              <a:srgbClr val="2C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5303520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111E"/>
                </a:solidFill>
                <a:latin typeface="Arial"/>
              </a:rPr>
              <a:t>Agencies building launch-ready immersive surfaces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36576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A8E"/>
                </a:solidFill>
                <a:latin typeface="Arial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C6BFF"/>
                </a:solidFill>
                <a:latin typeface="Arial"/>
              </a:rPr>
              <a:t>08 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68680"/>
            <a:ext cx="60350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7111E"/>
                </a:solidFill>
                <a:latin typeface="Arial"/>
              </a:rPr>
              <a:t>Where Loopnode is different</a:t>
            </a:r>
            <a:endParaRPr sz="24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808" y="1627632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A7C90"/>
                </a:solidFill>
                <a:latin typeface="Arial"/>
              </a:rPr>
              <a:t>A product-first comparison of how Loopnode is positioned against the usual assembled stack.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148840"/>
            <a:ext cx="5102352" cy="658368"/>
          </a:xfrm>
          <a:prstGeom prst="roundRect">
            <a:avLst/>
          </a:prstGeom>
          <a:solidFill>
            <a:srgbClr val="0D1726"/>
          </a:solidFill>
          <a:ln>
            <a:solidFill>
              <a:srgbClr val="0D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36792" y="2148840"/>
            <a:ext cx="5102352" cy="658368"/>
          </a:xfrm>
          <a:prstGeom prst="roundRect">
            <a:avLst/>
          </a:prstGeom>
          <a:solidFill>
            <a:srgbClr val="EDF2F8"/>
          </a:solidFill>
          <a:ln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50008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Loopnode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350008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7111E"/>
                </a:solidFill>
                <a:latin typeface="Arial"/>
              </a:rPr>
              <a:t>Typical stack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999232"/>
            <a:ext cx="1106424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3163824"/>
            <a:ext cx="822960" cy="438912"/>
          </a:xfrm>
          <a:prstGeom prst="roundRect">
            <a:avLst/>
          </a:prstGeom>
          <a:solidFill>
            <a:srgbClr val="6EDBFF"/>
          </a:solidFill>
          <a:ln>
            <a:solidFill>
              <a:srgbClr val="6E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291839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D1726"/>
                </a:solidFill>
                <a:latin typeface="Arial"/>
              </a:rPr>
              <a:t>Scene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163824"/>
            <a:ext cx="3657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2C6BFF"/>
                </a:solidFill>
                <a:latin typeface="Arial"/>
              </a:rPr>
              <a:t>Browser-native scene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163824"/>
            <a:ext cx="4343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6A7C90"/>
                </a:solidFill>
                <a:latin typeface="Arial"/>
              </a:rPr>
              <a:t>Usually external or fragmented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895344"/>
            <a:ext cx="1106424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4059935"/>
            <a:ext cx="822960" cy="438912"/>
          </a:xfrm>
          <a:prstGeom prst="round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187952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D1726"/>
                </a:solidFill>
                <a:latin typeface="Arial"/>
              </a:rPr>
              <a:t>Review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059935"/>
            <a:ext cx="3657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2C6BFF"/>
                </a:solidFill>
                <a:latin typeface="Arial"/>
              </a:rPr>
              <a:t>Review inside product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059935"/>
            <a:ext cx="4343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6A7C90"/>
                </a:solidFill>
                <a:latin typeface="Arial"/>
              </a:rPr>
              <a:t>Often handled with patchwork tools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791456"/>
            <a:ext cx="1106424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2688" y="4956048"/>
            <a:ext cx="822960" cy="438912"/>
          </a:xfrm>
          <a:prstGeom prst="roundRect">
            <a:avLst/>
          </a:prstGeom>
          <a:solidFill>
            <a:srgbClr val="A58EFF"/>
          </a:solidFill>
          <a:ln>
            <a:solidFill>
              <a:srgbClr val="A5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5084064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D1726"/>
                </a:solidFill>
                <a:latin typeface="Arial"/>
              </a:rPr>
              <a:t>Product framing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956048"/>
            <a:ext cx="3657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2C6BFF"/>
                </a:solidFill>
                <a:latin typeface="Arial"/>
              </a:rPr>
              <a:t>Launch-ready product framing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956048"/>
            <a:ext cx="4343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6A7C90"/>
                </a:solidFill>
                <a:latin typeface="Arial"/>
              </a:rPr>
              <a:t>Often engine-centric rather than product-centric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687568"/>
            <a:ext cx="1106424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2688" y="5852160"/>
            <a:ext cx="822960" cy="438912"/>
          </a:xfrm>
          <a:prstGeom prst="roundRect">
            <a:avLst/>
          </a:prstGeom>
          <a:solidFill>
            <a:srgbClr val="B8FF68"/>
          </a:solidFill>
          <a:ln>
            <a:solidFill>
              <a:srgbClr val="B8F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5980176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D1726"/>
                </a:solidFill>
                <a:latin typeface="Arial"/>
              </a:rPr>
              <a:t>Operational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852160"/>
            <a:ext cx="3657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2C6BFF"/>
                </a:solidFill>
                <a:latin typeface="Arial"/>
              </a:rPr>
              <a:t>Connected runtime + asset + team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5852160"/>
            <a:ext cx="4343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6A7C90"/>
                </a:solidFill>
                <a:latin typeface="Arial"/>
              </a:rPr>
              <a:t>Commonly assembled by hand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36576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A8E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C6BFF"/>
                </a:solidFill>
                <a:latin typeface="Arial"/>
              </a:rPr>
              <a:t>09 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68680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7111E"/>
                </a:solidFill>
                <a:latin typeface="Arial"/>
              </a:rPr>
              <a:t>A practical expansion path</a:t>
            </a:r>
            <a:endParaRPr sz="2400" b="1" i="0"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97280" y="3246120"/>
            <a:ext cx="9875520" cy="27432"/>
          </a:xfrm>
          <a:prstGeom prst="rect">
            <a:avLst/>
          </a:prstGeom>
          <a:solidFill>
            <a:srgbClr val="D8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2331720"/>
            <a:ext cx="2011680" cy="2011680"/>
          </a:xfrm>
          <a:prstGeom prst="roundRect">
            <a:avLst/>
          </a:prstGeom>
          <a:solidFill>
            <a:srgbClr val="F4F7FB"/>
          </a:solidFill>
          <a:ln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47088" y="2926080"/>
            <a:ext cx="694944" cy="694944"/>
          </a:xfrm>
          <a:prstGeom prst="roundRect">
            <a:avLst/>
          </a:prstGeom>
          <a:solidFill>
            <a:srgbClr val="2C6BFF"/>
          </a:solidFill>
          <a:ln>
            <a:solidFill>
              <a:srgbClr val="2C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2606040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7111E"/>
                </a:solidFill>
                <a:latin typeface="Arial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3840480"/>
            <a:ext cx="1691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6A7C90"/>
                </a:solidFill>
                <a:latin typeface="Arial"/>
              </a:rPr>
              <a:t>Launch editor, runtime, and browser publishing around a premium 3D creation wedge.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2331720"/>
            <a:ext cx="2011680" cy="2011680"/>
          </a:xfrm>
          <a:prstGeom prst="roundRect">
            <a:avLst/>
          </a:prstGeom>
          <a:solidFill>
            <a:srgbClr val="F4F7FB"/>
          </a:solidFill>
          <a:ln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61688" y="2926080"/>
            <a:ext cx="694944" cy="694944"/>
          </a:xfrm>
          <a:prstGeom prst="roundRect">
            <a:avLst/>
          </a:prstGeom>
          <a:solidFill>
            <a:srgbClr val="6EDBFF"/>
          </a:solidFill>
          <a:ln>
            <a:solidFill>
              <a:srgbClr val="6E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59" y="2606040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7111E"/>
                </a:solidFill>
                <a:latin typeface="Arial"/>
              </a:rP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7911" y="3840480"/>
            <a:ext cx="1691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6A7C90"/>
                </a:solidFill>
                <a:latin typeface="Arial"/>
              </a:rPr>
              <a:t>Deepen asset operations, collaboration, and review workflows for production teams.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331720"/>
            <a:ext cx="2011680" cy="2011680"/>
          </a:xfrm>
          <a:prstGeom prst="roundRect">
            <a:avLst/>
          </a:prstGeom>
          <a:solidFill>
            <a:srgbClr val="F4F7FB"/>
          </a:solidFill>
          <a:ln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76288" y="2926080"/>
            <a:ext cx="694944" cy="694944"/>
          </a:xfrm>
          <a:prstGeom prst="round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2606040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7111E"/>
                </a:solidFill>
                <a:latin typeface="Arial"/>
              </a:rP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840480"/>
            <a:ext cx="1691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6A7C90"/>
                </a:solidFill>
                <a:latin typeface="Arial"/>
              </a:rPr>
              <a:t>Expand into AI-assisted creation, automation, and more structured deployment tooling.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331720"/>
            <a:ext cx="2011680" cy="2011680"/>
          </a:xfrm>
          <a:prstGeom prst="roundRect">
            <a:avLst/>
          </a:prstGeom>
          <a:solidFill>
            <a:srgbClr val="F4F7FB"/>
          </a:solidFill>
          <a:ln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90888" y="2926080"/>
            <a:ext cx="694944" cy="694944"/>
          </a:xfrm>
          <a:prstGeom prst="roundRect">
            <a:avLst/>
          </a:prstGeom>
          <a:solidFill>
            <a:srgbClr val="A58EFF"/>
          </a:solidFill>
          <a:ln>
            <a:solidFill>
              <a:srgbClr val="A5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2606040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7111E"/>
                </a:solidFill>
                <a:latin typeface="Arial"/>
              </a:rPr>
              <a:t>Phase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2" y="3840480"/>
            <a:ext cx="1691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6A7C90"/>
                </a:solidFill>
                <a:latin typeface="Arial"/>
              </a:rPr>
              <a:t>Broaden into more complex spatial product systems, data integrations, and enterprise surfaces.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36576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EA7C4"/>
                </a:solidFill>
                <a:latin typeface="Arial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DBFF"/>
                </a:solidFill>
                <a:latin typeface="Arial"/>
              </a:rPr>
              <a:t>10  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6868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Revenue can compound across software, workflow depth, and delivery infrastructure.</a:t>
            </a:r>
            <a:endParaRPr sz="2400" b="1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49808" y="1920240"/>
            <a:ext cx="3520440" cy="3383280"/>
          </a:xfrm>
          <a:prstGeom prst="roundRect">
            <a:avLst/>
          </a:prstGeom>
          <a:solidFill>
            <a:srgbClr val="10233B"/>
          </a:solidFill>
          <a:ln>
            <a:solidFill>
              <a:srgbClr val="1E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2240280"/>
            <a:ext cx="822960" cy="91440"/>
          </a:xfrm>
          <a:prstGeom prst="rect">
            <a:avLst/>
          </a:prstGeom>
          <a:solidFill>
            <a:srgbClr val="6EDBFF"/>
          </a:solidFill>
          <a:ln>
            <a:solidFill>
              <a:srgbClr val="6E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Platform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4612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6D5E4"/>
                </a:solidFill>
                <a:latin typeface="Arial"/>
              </a:rPr>
              <a:t>Core subscription or enterprise access to the editing and runtime environment.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920240"/>
            <a:ext cx="3520440" cy="3383280"/>
          </a:xfrm>
          <a:prstGeom prst="roundRect">
            <a:avLst/>
          </a:prstGeom>
          <a:solidFill>
            <a:srgbClr val="10233B"/>
          </a:solidFill>
          <a:ln>
            <a:solidFill>
              <a:srgbClr val="1E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36592" y="2240280"/>
            <a:ext cx="822960" cy="91440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25603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Production 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324612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6D5E4"/>
                </a:solidFill>
                <a:latin typeface="Arial"/>
              </a:rPr>
              <a:t>Higher-value layers for collaboration, governance, publishing, and analytics.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920240"/>
            <a:ext cx="3520440" cy="3383280"/>
          </a:xfrm>
          <a:prstGeom prst="roundRect">
            <a:avLst/>
          </a:prstGeom>
          <a:solidFill>
            <a:srgbClr val="10233B"/>
          </a:solidFill>
          <a:ln>
            <a:solidFill>
              <a:srgbClr val="1E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67344" y="2240280"/>
            <a:ext cx="822960" cy="91440"/>
          </a:xfrm>
          <a:prstGeom prst="rect">
            <a:avLst/>
          </a:prstGeom>
          <a:solidFill>
            <a:srgbClr val="B8FF68"/>
          </a:solidFill>
          <a:ln>
            <a:solidFill>
              <a:srgbClr val="B8F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7344" y="25603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Services + integrations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4" y="324612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6D5E4"/>
                </a:solidFill>
                <a:latin typeface="Arial"/>
              </a:rPr>
              <a:t>Implementation, migration, deployment configuration, and data connections.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36576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EA7C4"/>
                </a:solidFill>
                <a:latin typeface="Arial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DBFF"/>
                </a:solidFill>
                <a:latin typeface="Arial"/>
              </a:rPr>
              <a:t>11  WHY THIS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859536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The opportunity is to make browser 3D feel less like raw tooling and more like a finished product system.</a:t>
            </a:r>
            <a:endParaRPr sz="28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7223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6D5E4"/>
                </a:solidFill>
                <a:latin typeface="Arial"/>
              </a:rPr>
              <a:t>Loopnode is differentiated by product coherence. Instead of asking teams to assemble scene tooling, runtime logic, review workflows, and launch mechanics on their own, it offers a cleaner operating layer designed around the actual shipping process.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371600"/>
            <a:ext cx="20116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opnod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1965960"/>
            <a:ext cx="1188720" cy="1188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0" y="347472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111E"/>
                </a:solidFill>
                <a:latin typeface="Arial"/>
              </a:rPr>
              <a:t>Loopnode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36576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A8E"/>
                </a:solidFill>
                <a:latin typeface="Arial"/>
              </a:rPr>
              <a:t>13</a:t>
            </a:r>
          </a:p>
        </p:txBody>
      </p:sp>
      <p:pic>
        <p:nvPicPr>
          <p:cNvPr id="3" name="Picture 2" descr="lv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6"/>
          </a:solidFill>
          <a:ln>
            <a:solidFill>
              <a:srgbClr val="0D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DBFF"/>
                </a:solidFill>
                <a:latin typeface="Arial"/>
              </a:rPr>
              <a:t>12  CLOSING</a:t>
            </a:r>
          </a:p>
        </p:txBody>
      </p:sp>
      <p:pic>
        <p:nvPicPr>
          <p:cNvPr id="6" name="Picture 5" descr="loopnod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097280"/>
            <a:ext cx="1097280" cy="1097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1874519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Loopnode</a:t>
            </a:r>
            <a:endParaRPr sz="3000" b="1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7E3EE"/>
                </a:solidFill>
                <a:latin typeface="Arial"/>
              </a:rPr>
              <a:t>A premium browser-native 3D platform for teams building interactive products, immersive launches, and realtime spatial experiences.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754880"/>
            <a:ext cx="2743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4974336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7111E"/>
                </a:solidFill>
                <a:latin typeface="Arial"/>
              </a:rPr>
              <a:t>hello@loopnode.net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